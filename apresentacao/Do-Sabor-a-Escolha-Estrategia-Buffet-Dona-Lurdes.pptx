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1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</p:sldIdLst>
  <p:sldSz cy="5143500" cx="9144000"/>
  <p:notesSz cx="5143500" cy="9144000"/>
  <p:embeddedFontLst>
    <p:embeddedFont>
      <p:font typeface="Geist"/>
      <p:regular r:id="rId10"/>
      <p:bold r:id="rId11"/>
      <p:italic r:id="rId12"/>
      <p:boldItalic r:id="rId13"/>
    </p:embeddedFont>
    <p:embeddedFont>
      <p:font typeface="Ovo"/>
      <p:regular r:id="rId1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font" Target="fonts/Geist-bold.fntdata"/><Relationship Id="rId10" Type="http://schemas.openxmlformats.org/officeDocument/2006/relationships/font" Target="fonts/Geist-regular.fntdata"/><Relationship Id="rId13" Type="http://schemas.openxmlformats.org/officeDocument/2006/relationships/font" Target="fonts/Geist-boldItalic.fntdata"/><Relationship Id="rId12" Type="http://schemas.openxmlformats.org/officeDocument/2006/relationships/font" Target="fonts/Geist-italic.fntdata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4" Type="http://schemas.openxmlformats.org/officeDocument/2006/relationships/font" Target="fonts/Ovo-regular.fntdata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" name="Google Shape;23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" name="Google Shape;24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0" name="Google Shape;40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" name="Google Shape;41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0" name="Google Shape;60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" name="Google Shape;61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8" name="Google Shape;78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" name="Google Shape;79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6" name="Google Shape;96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" name="Google Shape;97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1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jpg"/><Relationship Id="rId3" Type="http://schemas.openxmlformats.org/officeDocument/2006/relationships/hyperlink" Target="https://gamma.app/?utm_source=made-with-gamma" TargetMode="External"/><Relationship Id="rId4" Type="http://schemas.openxmlformats.org/officeDocument/2006/relationships/image" Target="../media/image1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master 1">
  <p:cSld name="Slide master 1"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oogle Shape;11;p2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3E8D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" name="Google Shape;12;p2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7E6D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3" name="Google Shape;13;p2">
            <a:hlinkClick r:id="rId2"/>
          </p:cNvPr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029180" y="4844491"/>
            <a:ext cx="1071843" cy="25603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master 2">
  <p:cSld name="Slide master 2"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3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3E8D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" name="Google Shape;16;p3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9E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7" name="Google Shape;17;p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8" name="Google Shape;18;p3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0000">
              <a:alpha val="32157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9" name="Google Shape;19;p3">
            <a:hlinkClick r:id="rId3"/>
          </p:cNvPr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029180" y="4844491"/>
            <a:ext cx="1071843" cy="25603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.jp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jp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4.jp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5"/>
          <p:cNvSpPr/>
          <p:nvPr/>
        </p:nvSpPr>
        <p:spPr>
          <a:xfrm>
            <a:off x="609600" y="420886"/>
            <a:ext cx="5124450" cy="144013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88000"/>
              </a:lnSpc>
              <a:spcBef>
                <a:spcPts val="0"/>
              </a:spcBef>
              <a:spcAft>
                <a:spcPts val="0"/>
              </a:spcAft>
              <a:buClr>
                <a:srgbClr val="B52A24"/>
              </a:buClr>
              <a:buSzPts val="3500"/>
              <a:buFont typeface="Ovo"/>
              <a:buNone/>
            </a:pPr>
            <a:r>
              <a:rPr b="1" i="0" lang="en-US" sz="3500" u="none" cap="none" strike="noStrike">
                <a:solidFill>
                  <a:srgbClr val="B52A24"/>
                </a:solidFill>
                <a:latin typeface="Ovo"/>
                <a:ea typeface="Ovo"/>
                <a:cs typeface="Ovo"/>
                <a:sym typeface="Ovo"/>
              </a:rPr>
              <a:t>Poucos pedidos</a:t>
            </a:r>
            <a:r>
              <a:rPr b="0" i="0" lang="en-US" sz="3500" u="none" cap="none" strike="noStrike">
                <a:solidFill>
                  <a:srgbClr val="3A2118"/>
                </a:solidFill>
                <a:latin typeface="Ovo"/>
                <a:ea typeface="Ovo"/>
                <a:cs typeface="Ovo"/>
                <a:sym typeface="Ovo"/>
              </a:rPr>
              <a:t>, mesmo com um serviço de qualidade</a:t>
            </a:r>
            <a:endParaRPr b="0" i="0" sz="3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" name="Google Shape;27;p5"/>
          <p:cNvSpPr/>
          <p:nvPr/>
        </p:nvSpPr>
        <p:spPr>
          <a:xfrm>
            <a:off x="609600" y="2072953"/>
            <a:ext cx="5124450" cy="6799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buClr>
                <a:srgbClr val="3A2118"/>
              </a:buClr>
              <a:buSzPts val="1300"/>
              <a:buFont typeface="Geist"/>
              <a:buNone/>
            </a:pPr>
            <a:r>
              <a:rPr b="0" i="0" lang="en-US" sz="1300" u="none" cap="none" strike="noStrike">
                <a:solidFill>
                  <a:srgbClr val="3A2118"/>
                </a:solidFill>
                <a:latin typeface="Geist"/>
                <a:ea typeface="Geist"/>
                <a:cs typeface="Geist"/>
                <a:sym typeface="Geist"/>
              </a:rPr>
              <a:t>A Dona Lurdes prepara um buffet caseiro, saboroso e feito com carinho, mas o cliente pode ficar confuso por não encontrar com facilidade: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" name="Google Shape;28;p5"/>
          <p:cNvSpPr/>
          <p:nvPr/>
        </p:nvSpPr>
        <p:spPr>
          <a:xfrm>
            <a:off x="609600" y="3054846"/>
            <a:ext cx="230460" cy="230460"/>
          </a:xfrm>
          <a:prstGeom prst="ellipse">
            <a:avLst/>
          </a:prstGeom>
          <a:solidFill>
            <a:srgbClr val="7A5B4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" name="Google Shape;29;p5"/>
          <p:cNvSpPr/>
          <p:nvPr/>
        </p:nvSpPr>
        <p:spPr>
          <a:xfrm>
            <a:off x="1011510" y="2943448"/>
            <a:ext cx="2103165" cy="453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buClr>
                <a:srgbClr val="3A2118"/>
              </a:buClr>
              <a:buSzPts val="1300"/>
              <a:buFont typeface="Geist"/>
              <a:buNone/>
            </a:pPr>
            <a:r>
              <a:rPr b="0" i="0" lang="en-US" sz="1300" u="none" cap="none" strike="noStrike">
                <a:solidFill>
                  <a:srgbClr val="3A2118"/>
                </a:solidFill>
                <a:latin typeface="Geist"/>
                <a:ea typeface="Geist"/>
                <a:cs typeface="Geist"/>
                <a:sym typeface="Geist"/>
              </a:rPr>
              <a:t>Quais produtos estão disponíveis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" name="Google Shape;30;p5"/>
          <p:cNvSpPr/>
          <p:nvPr/>
        </p:nvSpPr>
        <p:spPr>
          <a:xfrm>
            <a:off x="3228975" y="3054846"/>
            <a:ext cx="230460" cy="230460"/>
          </a:xfrm>
          <a:prstGeom prst="ellipse">
            <a:avLst/>
          </a:prstGeom>
          <a:solidFill>
            <a:srgbClr val="7A5B4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" name="Google Shape;31;p5"/>
          <p:cNvSpPr/>
          <p:nvPr/>
        </p:nvSpPr>
        <p:spPr>
          <a:xfrm>
            <a:off x="3630885" y="2943448"/>
            <a:ext cx="2103165" cy="453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buClr>
                <a:srgbClr val="3A2118"/>
              </a:buClr>
              <a:buSzPts val="1300"/>
              <a:buFont typeface="Geist"/>
              <a:buNone/>
            </a:pPr>
            <a:r>
              <a:rPr b="0" i="0" lang="en-US" sz="1300" u="none" cap="none" strike="noStrike">
                <a:solidFill>
                  <a:srgbClr val="3A2118"/>
                </a:solidFill>
                <a:latin typeface="Geist"/>
                <a:ea typeface="Geist"/>
                <a:cs typeface="Geist"/>
                <a:sym typeface="Geist"/>
              </a:rPr>
              <a:t>O que está incluso em cada pedido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" name="Google Shape;32;p5"/>
          <p:cNvSpPr/>
          <p:nvPr/>
        </p:nvSpPr>
        <p:spPr>
          <a:xfrm>
            <a:off x="609600" y="3622477"/>
            <a:ext cx="230460" cy="230460"/>
          </a:xfrm>
          <a:prstGeom prst="ellipse">
            <a:avLst/>
          </a:prstGeom>
          <a:solidFill>
            <a:srgbClr val="7A5B4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" name="Google Shape;33;p5"/>
          <p:cNvSpPr/>
          <p:nvPr/>
        </p:nvSpPr>
        <p:spPr>
          <a:xfrm>
            <a:off x="1011510" y="3511079"/>
            <a:ext cx="2103165" cy="22666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buClr>
                <a:srgbClr val="3A2118"/>
              </a:buClr>
              <a:buSzPts val="1300"/>
              <a:buFont typeface="Geist"/>
              <a:buNone/>
            </a:pPr>
            <a:r>
              <a:rPr b="0" i="0" lang="en-US" sz="1300" u="none" cap="none" strike="noStrike">
                <a:solidFill>
                  <a:srgbClr val="3A2118"/>
                </a:solidFill>
                <a:latin typeface="Geist"/>
                <a:ea typeface="Geist"/>
                <a:cs typeface="Geist"/>
                <a:sym typeface="Geist"/>
              </a:rPr>
              <a:t>Como pedir um orçamento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" name="Google Shape;34;p5"/>
          <p:cNvSpPr/>
          <p:nvPr/>
        </p:nvSpPr>
        <p:spPr>
          <a:xfrm>
            <a:off x="3228975" y="3622477"/>
            <a:ext cx="230460" cy="230460"/>
          </a:xfrm>
          <a:prstGeom prst="ellipse">
            <a:avLst/>
          </a:prstGeom>
          <a:solidFill>
            <a:srgbClr val="7A5B4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" name="Google Shape;35;p5"/>
          <p:cNvSpPr/>
          <p:nvPr/>
        </p:nvSpPr>
        <p:spPr>
          <a:xfrm>
            <a:off x="3630885" y="3511079"/>
            <a:ext cx="2103165" cy="453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buClr>
                <a:srgbClr val="3A2118"/>
              </a:buClr>
              <a:buSzPts val="1300"/>
              <a:buFont typeface="Geist"/>
              <a:buNone/>
            </a:pPr>
            <a:r>
              <a:rPr b="0" i="0" lang="en-US" sz="1300" u="none" cap="none" strike="noStrike">
                <a:solidFill>
                  <a:srgbClr val="3A2118"/>
                </a:solidFill>
                <a:latin typeface="Geist"/>
                <a:ea typeface="Geist"/>
                <a:cs typeface="Geist"/>
                <a:sym typeface="Geist"/>
              </a:rPr>
              <a:t>Por que escolher o Buffet Dona Lurdes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" name="Google Shape;36;p5"/>
          <p:cNvSpPr/>
          <p:nvPr/>
        </p:nvSpPr>
        <p:spPr>
          <a:xfrm>
            <a:off x="852487" y="4212059"/>
            <a:ext cx="4881563" cy="453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buClr>
                <a:srgbClr val="3A2118"/>
              </a:buClr>
              <a:buSzPts val="1300"/>
              <a:buFont typeface="Geist"/>
              <a:buNone/>
            </a:pPr>
            <a:r>
              <a:rPr b="0" i="0" lang="en-US" sz="1300" u="none" cap="none" strike="noStrike">
                <a:solidFill>
                  <a:srgbClr val="3A2118"/>
                </a:solidFill>
                <a:latin typeface="Geist"/>
                <a:ea typeface="Geist"/>
                <a:cs typeface="Geist"/>
                <a:sym typeface="Geist"/>
              </a:rPr>
              <a:t>Quando a apresentação não é clara, o cliente pode desistir antes de pedir orçamento.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" name="Google Shape;37;p5"/>
          <p:cNvSpPr/>
          <p:nvPr/>
        </p:nvSpPr>
        <p:spPr>
          <a:xfrm>
            <a:off x="609600" y="4154909"/>
            <a:ext cx="21431" cy="567630"/>
          </a:xfrm>
          <a:prstGeom prst="roundRect">
            <a:avLst>
              <a:gd fmla="val 50001" name="adj"/>
            </a:avLst>
          </a:prstGeom>
          <a:solidFill>
            <a:srgbClr val="B52A2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6"/>
          <p:cNvSpPr/>
          <p:nvPr/>
        </p:nvSpPr>
        <p:spPr>
          <a:xfrm>
            <a:off x="609600" y="419100"/>
            <a:ext cx="5391150" cy="144013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88000"/>
              </a:lnSpc>
              <a:spcBef>
                <a:spcPts val="0"/>
              </a:spcBef>
              <a:spcAft>
                <a:spcPts val="0"/>
              </a:spcAft>
              <a:buClr>
                <a:srgbClr val="3A2118"/>
              </a:buClr>
              <a:buSzPts val="3500"/>
              <a:buFont typeface="Ovo"/>
              <a:buNone/>
            </a:pPr>
            <a:r>
              <a:rPr b="0" i="0" lang="en-US" sz="3500" u="none" cap="none" strike="noStrike">
                <a:solidFill>
                  <a:srgbClr val="3A2118"/>
                </a:solidFill>
                <a:latin typeface="Ovo"/>
                <a:ea typeface="Ovo"/>
                <a:cs typeface="Ovo"/>
                <a:sym typeface="Ovo"/>
              </a:rPr>
              <a:t>Transformar qualidade em </a:t>
            </a:r>
            <a:r>
              <a:rPr b="1" i="0" lang="en-US" sz="3500" u="none" cap="none" strike="noStrike">
                <a:solidFill>
                  <a:srgbClr val="B52A24"/>
                </a:solidFill>
                <a:latin typeface="Ovo"/>
                <a:ea typeface="Ovo"/>
                <a:cs typeface="Ovo"/>
                <a:sym typeface="Ovo"/>
              </a:rPr>
              <a:t>mais confiança</a:t>
            </a:r>
            <a:r>
              <a:rPr b="0" i="0" lang="en-US" sz="3500" u="none" cap="none" strike="noStrike">
                <a:solidFill>
                  <a:srgbClr val="3A2118"/>
                </a:solidFill>
                <a:latin typeface="Ovo"/>
                <a:ea typeface="Ovo"/>
                <a:cs typeface="Ovo"/>
                <a:sym typeface="Ovo"/>
              </a:rPr>
              <a:t> e mais pedidos</a:t>
            </a:r>
            <a:endParaRPr b="0" i="0" sz="3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" name="Google Shape;44;p6"/>
          <p:cNvSpPr/>
          <p:nvPr/>
        </p:nvSpPr>
        <p:spPr>
          <a:xfrm>
            <a:off x="609600" y="2071167"/>
            <a:ext cx="5391150" cy="6799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buClr>
                <a:srgbClr val="3A2118"/>
              </a:buClr>
              <a:buSzPts val="1300"/>
              <a:buFont typeface="Geist"/>
              <a:buNone/>
            </a:pPr>
            <a:r>
              <a:rPr b="0" i="0" lang="en-US" sz="1300" u="none" cap="none" strike="noStrike">
                <a:solidFill>
                  <a:srgbClr val="3A2118"/>
                </a:solidFill>
                <a:latin typeface="Geist"/>
                <a:ea typeface="Geist"/>
                <a:cs typeface="Geist"/>
                <a:sym typeface="Geist"/>
              </a:rPr>
              <a:t>Existe uma oportunidade de melhorar a apresentação do buffet para que o cliente entenda rapidamente o serviço e se sinta seguro para entrar em contato.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" name="Google Shape;45;p6"/>
          <p:cNvSpPr/>
          <p:nvPr/>
        </p:nvSpPr>
        <p:spPr>
          <a:xfrm>
            <a:off x="609600" y="3053060"/>
            <a:ext cx="230460" cy="230460"/>
          </a:xfrm>
          <a:prstGeom prst="ellipse">
            <a:avLst/>
          </a:prstGeom>
          <a:solidFill>
            <a:srgbClr val="7A5B4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" name="Google Shape;46;p6"/>
          <p:cNvSpPr/>
          <p:nvPr/>
        </p:nvSpPr>
        <p:spPr>
          <a:xfrm>
            <a:off x="1011510" y="2941662"/>
            <a:ext cx="2236515" cy="453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buClr>
                <a:srgbClr val="3A2118"/>
              </a:buClr>
              <a:buSzPts val="1300"/>
              <a:buFont typeface="Geist"/>
              <a:buNone/>
            </a:pPr>
            <a:r>
              <a:rPr b="0" i="0" lang="en-US" sz="1300" u="none" cap="none" strike="noStrike">
                <a:solidFill>
                  <a:srgbClr val="3A2118"/>
                </a:solidFill>
                <a:latin typeface="Geist"/>
                <a:ea typeface="Geist"/>
                <a:cs typeface="Geist"/>
                <a:sym typeface="Geist"/>
              </a:rPr>
              <a:t>Cardápio organizado e fácil de visualizar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" name="Google Shape;47;p6"/>
          <p:cNvSpPr/>
          <p:nvPr/>
        </p:nvSpPr>
        <p:spPr>
          <a:xfrm>
            <a:off x="3362325" y="3053060"/>
            <a:ext cx="230460" cy="230460"/>
          </a:xfrm>
          <a:prstGeom prst="ellipse">
            <a:avLst/>
          </a:prstGeom>
          <a:solidFill>
            <a:srgbClr val="7A5B4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" name="Google Shape;48;p6"/>
          <p:cNvSpPr/>
          <p:nvPr/>
        </p:nvSpPr>
        <p:spPr>
          <a:xfrm>
            <a:off x="3764235" y="2941662"/>
            <a:ext cx="2236515" cy="453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Geist"/>
              <a:buNone/>
            </a:pPr>
            <a:r>
              <a:rPr b="1" i="0" lang="en-US" sz="1300" u="none" cap="none" strike="noStrike">
                <a:solidFill>
                  <a:srgbClr val="000000"/>
                </a:solidFill>
                <a:latin typeface="Geist"/>
                <a:ea typeface="Geist"/>
                <a:cs typeface="Geist"/>
                <a:sym typeface="Geist"/>
              </a:rPr>
              <a:t>Fotos reais</a:t>
            </a:r>
            <a:r>
              <a:rPr b="0" i="0" lang="en-US" sz="1300" u="none" cap="none" strike="noStrike">
                <a:solidFill>
                  <a:srgbClr val="3A2118"/>
                </a:solidFill>
                <a:latin typeface="Geist"/>
                <a:ea typeface="Geist"/>
                <a:cs typeface="Geist"/>
                <a:sym typeface="Geist"/>
              </a:rPr>
              <a:t> e bonitas dos produtos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" name="Google Shape;49;p6"/>
          <p:cNvSpPr/>
          <p:nvPr/>
        </p:nvSpPr>
        <p:spPr>
          <a:xfrm>
            <a:off x="609600" y="3620616"/>
            <a:ext cx="230460" cy="230460"/>
          </a:xfrm>
          <a:prstGeom prst="ellipse">
            <a:avLst/>
          </a:prstGeom>
          <a:solidFill>
            <a:srgbClr val="7A5B4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" name="Google Shape;50;p6"/>
          <p:cNvSpPr/>
          <p:nvPr/>
        </p:nvSpPr>
        <p:spPr>
          <a:xfrm>
            <a:off x="1011510" y="3509218"/>
            <a:ext cx="2236515" cy="453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buClr>
                <a:srgbClr val="3A2118"/>
              </a:buClr>
              <a:buSzPts val="1300"/>
              <a:buFont typeface="Geist"/>
              <a:buNone/>
            </a:pPr>
            <a:r>
              <a:rPr b="0" i="0" lang="en-US" sz="1300" u="none" cap="none" strike="noStrike">
                <a:solidFill>
                  <a:srgbClr val="3A2118"/>
                </a:solidFill>
                <a:latin typeface="Geist"/>
                <a:ea typeface="Geist"/>
                <a:cs typeface="Geist"/>
                <a:sym typeface="Geist"/>
              </a:rPr>
              <a:t>Informações claras sobre atendimento e orçamento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" name="Google Shape;51;p6"/>
          <p:cNvSpPr/>
          <p:nvPr/>
        </p:nvSpPr>
        <p:spPr>
          <a:xfrm>
            <a:off x="3362325" y="3620616"/>
            <a:ext cx="230460" cy="230460"/>
          </a:xfrm>
          <a:prstGeom prst="ellipse">
            <a:avLst/>
          </a:prstGeom>
          <a:solidFill>
            <a:srgbClr val="7A5B4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" name="Google Shape;52;p6"/>
          <p:cNvSpPr/>
          <p:nvPr/>
        </p:nvSpPr>
        <p:spPr>
          <a:xfrm>
            <a:off x="3764235" y="3509218"/>
            <a:ext cx="2236515" cy="453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buClr>
                <a:srgbClr val="3A2118"/>
              </a:buClr>
              <a:buSzPts val="1300"/>
              <a:buFont typeface="Geist"/>
              <a:buNone/>
            </a:pPr>
            <a:r>
              <a:rPr b="0" i="0" lang="en-US" sz="1300" u="none" cap="none" strike="noStrike">
                <a:solidFill>
                  <a:srgbClr val="3A2118"/>
                </a:solidFill>
                <a:latin typeface="Geist"/>
                <a:ea typeface="Geist"/>
                <a:cs typeface="Geist"/>
                <a:sym typeface="Geist"/>
              </a:rPr>
              <a:t>Divulgação simples pelo </a:t>
            </a:r>
            <a:r>
              <a:rPr b="1" i="0" lang="en-US" sz="1300" u="none" cap="none" strike="noStrike">
                <a:solidFill>
                  <a:srgbClr val="2E8B57"/>
                </a:solidFill>
                <a:latin typeface="Geist"/>
                <a:ea typeface="Geist"/>
                <a:cs typeface="Geist"/>
                <a:sym typeface="Geist"/>
              </a:rPr>
              <a:t>WhatsApp</a:t>
            </a:r>
            <a:r>
              <a:rPr b="0" i="0" lang="en-US" sz="1300" u="none" cap="none" strike="noStrike">
                <a:solidFill>
                  <a:srgbClr val="3A2118"/>
                </a:solidFill>
                <a:latin typeface="Geist"/>
                <a:ea typeface="Geist"/>
                <a:cs typeface="Geist"/>
                <a:sym typeface="Geist"/>
              </a:rPr>
              <a:t> e redes sociais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" name="Google Shape;53;p6"/>
          <p:cNvSpPr/>
          <p:nvPr/>
        </p:nvSpPr>
        <p:spPr>
          <a:xfrm>
            <a:off x="609600" y="4076774"/>
            <a:ext cx="230460" cy="230460"/>
          </a:xfrm>
          <a:prstGeom prst="ellipse">
            <a:avLst/>
          </a:prstGeom>
          <a:solidFill>
            <a:srgbClr val="7A5B4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" name="Google Shape;54;p6"/>
          <p:cNvSpPr/>
          <p:nvPr/>
        </p:nvSpPr>
        <p:spPr>
          <a:xfrm>
            <a:off x="1011510" y="4076774"/>
            <a:ext cx="4989240" cy="22666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buClr>
                <a:srgbClr val="3A2118"/>
              </a:buClr>
              <a:buSzPts val="1300"/>
              <a:buFont typeface="Geist"/>
              <a:buNone/>
            </a:pPr>
            <a:r>
              <a:rPr b="0" i="0" lang="en-US" sz="1300" u="none" cap="none" strike="noStrike">
                <a:solidFill>
                  <a:srgbClr val="3A2118"/>
                </a:solidFill>
                <a:latin typeface="Geist"/>
                <a:ea typeface="Geist"/>
                <a:cs typeface="Geist"/>
                <a:sym typeface="Geist"/>
              </a:rPr>
              <a:t>Mais credibilidade, indicações e pedidos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" name="Google Shape;55;p6"/>
          <p:cNvSpPr/>
          <p:nvPr/>
        </p:nvSpPr>
        <p:spPr>
          <a:xfrm>
            <a:off x="852487" y="4554885"/>
            <a:ext cx="5548313" cy="22666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buClr>
                <a:srgbClr val="3A2118"/>
              </a:buClr>
              <a:buSzPts val="1300"/>
              <a:buFont typeface="Geist"/>
              <a:buNone/>
            </a:pPr>
            <a:r>
              <a:rPr b="0" i="0" lang="en-US" sz="1300" u="none" cap="none" strike="noStrike">
                <a:solidFill>
                  <a:srgbClr val="3A2118"/>
                </a:solidFill>
                <a:latin typeface="Geist"/>
                <a:ea typeface="Geist"/>
                <a:cs typeface="Geist"/>
                <a:sym typeface="Geist"/>
              </a:rPr>
              <a:t>Uma boa apresentação faz o cliente perceber o valor do serviço.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" name="Google Shape;56;p6"/>
          <p:cNvSpPr/>
          <p:nvPr/>
        </p:nvSpPr>
        <p:spPr>
          <a:xfrm>
            <a:off x="609600" y="4497735"/>
            <a:ext cx="21431" cy="340965"/>
          </a:xfrm>
          <a:prstGeom prst="roundRect">
            <a:avLst>
              <a:gd fmla="val 50001" name="adj"/>
            </a:avLst>
          </a:prstGeom>
          <a:solidFill>
            <a:srgbClr val="B52A2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57" name="Google Shape;57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400800" y="0"/>
            <a:ext cx="27432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7"/>
          <p:cNvSpPr/>
          <p:nvPr/>
        </p:nvSpPr>
        <p:spPr>
          <a:xfrm>
            <a:off x="609600" y="419100"/>
            <a:ext cx="4648200" cy="9600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88000"/>
              </a:lnSpc>
              <a:spcBef>
                <a:spcPts val="0"/>
              </a:spcBef>
              <a:spcAft>
                <a:spcPts val="0"/>
              </a:spcAft>
              <a:buClr>
                <a:srgbClr val="3A2118"/>
              </a:buClr>
              <a:buSzPts val="3500"/>
              <a:buFont typeface="Ovo"/>
              <a:buNone/>
            </a:pPr>
            <a:r>
              <a:rPr b="0" i="0" lang="en-US" sz="3500" u="none" cap="none" strike="noStrike">
                <a:solidFill>
                  <a:srgbClr val="3A2118"/>
                </a:solidFill>
                <a:latin typeface="Ovo"/>
                <a:ea typeface="Ovo"/>
                <a:cs typeface="Ovo"/>
                <a:sym typeface="Ovo"/>
              </a:rPr>
              <a:t>Plano simples para vender mais</a:t>
            </a:r>
            <a:endParaRPr b="0" i="0" sz="3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" name="Google Shape;64;p7"/>
          <p:cNvSpPr/>
          <p:nvPr/>
        </p:nvSpPr>
        <p:spPr>
          <a:xfrm>
            <a:off x="723900" y="1591121"/>
            <a:ext cx="733425" cy="733425"/>
          </a:xfrm>
          <a:prstGeom prst="ellipse">
            <a:avLst/>
          </a:prstGeom>
          <a:solidFill>
            <a:srgbClr val="F4A26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" name="Google Shape;65;p7"/>
          <p:cNvSpPr/>
          <p:nvPr/>
        </p:nvSpPr>
        <p:spPr>
          <a:xfrm>
            <a:off x="895424" y="1748284"/>
            <a:ext cx="847502" cy="41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Clr>
                <a:srgbClr val="3A2A20"/>
              </a:buClr>
              <a:buSzPts val="3150"/>
              <a:buFont typeface="Ovo"/>
              <a:buNone/>
            </a:pPr>
            <a:r>
              <a:rPr b="0" i="0" lang="en-US" sz="3150" u="none" cap="none" strike="noStrike">
                <a:solidFill>
                  <a:srgbClr val="3A2A20"/>
                </a:solidFill>
                <a:latin typeface="Ovo"/>
                <a:ea typeface="Ovo"/>
                <a:cs typeface="Ovo"/>
                <a:sym typeface="Ovo"/>
              </a:rPr>
              <a:t>01</a:t>
            </a:r>
            <a:endParaRPr b="0" i="0" sz="3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" name="Google Shape;66;p7"/>
          <p:cNvSpPr/>
          <p:nvPr/>
        </p:nvSpPr>
        <p:spPr>
          <a:xfrm>
            <a:off x="1533525" y="1862584"/>
            <a:ext cx="3609975" cy="8800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buClr>
                <a:srgbClr val="3A2118"/>
              </a:buClr>
              <a:buSzPts val="1650"/>
              <a:buFont typeface="Geist"/>
              <a:buNone/>
            </a:pPr>
            <a:r>
              <a:rPr b="0" i="0" lang="en-US" sz="1650" u="none" cap="none" strike="noStrike">
                <a:solidFill>
                  <a:srgbClr val="3A2118"/>
                </a:solidFill>
                <a:latin typeface="Geist"/>
                <a:ea typeface="Geist"/>
                <a:cs typeface="Geist"/>
                <a:sym typeface="Geist"/>
              </a:rPr>
              <a:t>Criar um cardápio digital bonito, com categorias, produtos e descrições claras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" name="Google Shape;67;p7"/>
          <p:cNvSpPr/>
          <p:nvPr/>
        </p:nvSpPr>
        <p:spPr>
          <a:xfrm>
            <a:off x="723900" y="2767236"/>
            <a:ext cx="733425" cy="733425"/>
          </a:xfrm>
          <a:prstGeom prst="ellipse">
            <a:avLst/>
          </a:prstGeom>
          <a:solidFill>
            <a:srgbClr val="F4A26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" name="Google Shape;68;p7"/>
          <p:cNvSpPr/>
          <p:nvPr/>
        </p:nvSpPr>
        <p:spPr>
          <a:xfrm>
            <a:off x="857101" y="2924398"/>
            <a:ext cx="924223" cy="41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Clr>
                <a:srgbClr val="3A2A20"/>
              </a:buClr>
              <a:buSzPts val="3200"/>
              <a:buFont typeface="Ovo"/>
              <a:buNone/>
            </a:pPr>
            <a:r>
              <a:rPr b="0" i="0" lang="en-US" sz="3200" u="none" cap="none" strike="noStrike">
                <a:solidFill>
                  <a:srgbClr val="3A2A20"/>
                </a:solidFill>
                <a:latin typeface="Ovo"/>
                <a:ea typeface="Ovo"/>
                <a:cs typeface="Ovo"/>
                <a:sym typeface="Ovo"/>
              </a:rPr>
              <a:t>02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" name="Google Shape;69;p7"/>
          <p:cNvSpPr/>
          <p:nvPr/>
        </p:nvSpPr>
        <p:spPr>
          <a:xfrm>
            <a:off x="1533525" y="3038698"/>
            <a:ext cx="3609975" cy="5866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buClr>
                <a:srgbClr val="3A2118"/>
              </a:buClr>
              <a:buSzPts val="1650"/>
              <a:buFont typeface="Geist"/>
              <a:buNone/>
            </a:pPr>
            <a:r>
              <a:rPr b="0" i="0" lang="en-US" sz="1650" u="none" cap="none" strike="noStrike">
                <a:solidFill>
                  <a:srgbClr val="3A2118"/>
                </a:solidFill>
                <a:latin typeface="Geist"/>
                <a:ea typeface="Geist"/>
                <a:cs typeface="Geist"/>
                <a:sym typeface="Geist"/>
              </a:rPr>
              <a:t>Usar fotos reais e bem iluminadas dos salgados, doces e pratos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" name="Google Shape;70;p7"/>
          <p:cNvSpPr/>
          <p:nvPr/>
        </p:nvSpPr>
        <p:spPr>
          <a:xfrm>
            <a:off x="723900" y="3760366"/>
            <a:ext cx="733425" cy="733425"/>
          </a:xfrm>
          <a:prstGeom prst="ellipse">
            <a:avLst/>
          </a:prstGeom>
          <a:solidFill>
            <a:srgbClr val="F4A26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" name="Google Shape;71;p7"/>
          <p:cNvSpPr/>
          <p:nvPr/>
        </p:nvSpPr>
        <p:spPr>
          <a:xfrm>
            <a:off x="855613" y="3917528"/>
            <a:ext cx="927125" cy="41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Clr>
                <a:srgbClr val="3A2A20"/>
              </a:buClr>
              <a:buSzPts val="3200"/>
              <a:buFont typeface="Ovo"/>
              <a:buNone/>
            </a:pPr>
            <a:r>
              <a:rPr b="0" i="0" lang="en-US" sz="3200" u="none" cap="none" strike="noStrike">
                <a:solidFill>
                  <a:srgbClr val="3A2A20"/>
                </a:solidFill>
                <a:latin typeface="Ovo"/>
                <a:ea typeface="Ovo"/>
                <a:cs typeface="Ovo"/>
                <a:sym typeface="Ovo"/>
              </a:rPr>
              <a:t>03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" name="Google Shape;72;p7"/>
          <p:cNvSpPr/>
          <p:nvPr/>
        </p:nvSpPr>
        <p:spPr>
          <a:xfrm>
            <a:off x="1533525" y="4031828"/>
            <a:ext cx="3609975" cy="5866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buClr>
                <a:srgbClr val="3A2118"/>
              </a:buClr>
              <a:buSzPts val="1650"/>
              <a:buFont typeface="Geist"/>
              <a:buNone/>
            </a:pPr>
            <a:r>
              <a:rPr b="0" i="0" lang="en-US" sz="1650" u="none" cap="none" strike="noStrike">
                <a:solidFill>
                  <a:srgbClr val="3A2118"/>
                </a:solidFill>
                <a:latin typeface="Geist"/>
                <a:ea typeface="Geist"/>
                <a:cs typeface="Geist"/>
                <a:sym typeface="Geist"/>
              </a:rPr>
              <a:t>Deixar um botão de </a:t>
            </a:r>
            <a:r>
              <a:rPr b="1" i="0" lang="en-US" sz="1650" u="none" cap="none" strike="noStrike">
                <a:solidFill>
                  <a:srgbClr val="2E8B57"/>
                </a:solidFill>
                <a:latin typeface="Geist"/>
                <a:ea typeface="Geist"/>
                <a:cs typeface="Geist"/>
                <a:sym typeface="Geist"/>
              </a:rPr>
              <a:t>WhatsApp</a:t>
            </a:r>
            <a:r>
              <a:rPr b="0" i="0" lang="en-US" sz="1650" u="none" cap="none" strike="noStrike">
                <a:solidFill>
                  <a:srgbClr val="3A2118"/>
                </a:solidFill>
                <a:latin typeface="Geist"/>
                <a:ea typeface="Geist"/>
                <a:cs typeface="Geist"/>
                <a:sym typeface="Geist"/>
              </a:rPr>
              <a:t> visível para facilitar o orçamento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73" name="Google Shape;73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486400" y="0"/>
            <a:ext cx="3657600" cy="5146253"/>
          </a:xfrm>
          <a:prstGeom prst="rect">
            <a:avLst/>
          </a:prstGeom>
          <a:noFill/>
          <a:ln>
            <a:noFill/>
          </a:ln>
        </p:spPr>
      </p:pic>
      <p:sp>
        <p:nvSpPr>
          <p:cNvPr id="74" name="Google Shape;74;p7"/>
          <p:cNvSpPr/>
          <p:nvPr/>
        </p:nvSpPr>
        <p:spPr>
          <a:xfrm>
            <a:off x="609600" y="2762473"/>
            <a:ext cx="4648200" cy="9525"/>
          </a:xfrm>
          <a:prstGeom prst="rect">
            <a:avLst/>
          </a:prstGeom>
          <a:solidFill>
            <a:srgbClr val="D9BFA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" name="Google Shape;75;p7"/>
          <p:cNvSpPr/>
          <p:nvPr/>
        </p:nvSpPr>
        <p:spPr>
          <a:xfrm>
            <a:off x="609600" y="3755603"/>
            <a:ext cx="4648200" cy="9525"/>
          </a:xfrm>
          <a:prstGeom prst="rect">
            <a:avLst/>
          </a:prstGeom>
          <a:solidFill>
            <a:srgbClr val="D9BFA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8"/>
          <p:cNvSpPr/>
          <p:nvPr/>
        </p:nvSpPr>
        <p:spPr>
          <a:xfrm>
            <a:off x="609600" y="419100"/>
            <a:ext cx="4648200" cy="80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88000"/>
              </a:lnSpc>
              <a:spcBef>
                <a:spcPts val="0"/>
              </a:spcBef>
              <a:spcAft>
                <a:spcPts val="0"/>
              </a:spcAft>
              <a:buClr>
                <a:srgbClr val="3A2118"/>
              </a:buClr>
              <a:buSzPts val="2900"/>
              <a:buFont typeface="Ovo"/>
              <a:buNone/>
            </a:pPr>
            <a:r>
              <a:rPr b="0" i="0" lang="en-US" sz="2900" u="none" cap="none" strike="noStrike">
                <a:solidFill>
                  <a:srgbClr val="3A2118"/>
                </a:solidFill>
                <a:latin typeface="Ovo"/>
                <a:ea typeface="Ovo"/>
                <a:cs typeface="Ovo"/>
                <a:sym typeface="Ovo"/>
              </a:rPr>
              <a:t>Mostrar o diferencial em cada detalhe</a:t>
            </a:r>
            <a:endParaRPr b="0" i="0" sz="2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" name="Google Shape;82;p8"/>
          <p:cNvSpPr/>
          <p:nvPr/>
        </p:nvSpPr>
        <p:spPr>
          <a:xfrm>
            <a:off x="609600" y="1526381"/>
            <a:ext cx="733425" cy="733425"/>
          </a:xfrm>
          <a:prstGeom prst="ellipse">
            <a:avLst/>
          </a:prstGeom>
          <a:solidFill>
            <a:srgbClr val="F4A26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" name="Google Shape;83;p8"/>
          <p:cNvSpPr/>
          <p:nvPr/>
        </p:nvSpPr>
        <p:spPr>
          <a:xfrm>
            <a:off x="781124" y="1683544"/>
            <a:ext cx="847502" cy="41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Clr>
                <a:srgbClr val="3A2A20"/>
              </a:buClr>
              <a:buSzPts val="3150"/>
              <a:buFont typeface="Ovo"/>
              <a:buNone/>
            </a:pPr>
            <a:r>
              <a:rPr b="0" i="0" lang="en-US" sz="3150" u="none" cap="none" strike="noStrike">
                <a:solidFill>
                  <a:srgbClr val="3A2A20"/>
                </a:solidFill>
                <a:latin typeface="Ovo"/>
                <a:ea typeface="Ovo"/>
                <a:cs typeface="Ovo"/>
                <a:sym typeface="Ovo"/>
              </a:rPr>
              <a:t>01</a:t>
            </a:r>
            <a:endParaRPr b="0" i="0" sz="3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" name="Google Shape;84;p8"/>
          <p:cNvSpPr/>
          <p:nvPr/>
        </p:nvSpPr>
        <p:spPr>
          <a:xfrm>
            <a:off x="1419225" y="1840706"/>
            <a:ext cx="3838575" cy="46665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buClr>
                <a:srgbClr val="3A2118"/>
              </a:buClr>
              <a:buSzPts val="1300"/>
              <a:buFont typeface="Geist"/>
              <a:buNone/>
            </a:pPr>
            <a:r>
              <a:rPr b="0" i="0" lang="en-US" sz="1300" u="none" cap="none" strike="noStrike">
                <a:solidFill>
                  <a:srgbClr val="3A2118"/>
                </a:solidFill>
                <a:latin typeface="Geist"/>
                <a:ea typeface="Geist"/>
                <a:cs typeface="Geist"/>
                <a:sym typeface="Geist"/>
              </a:rPr>
              <a:t>Informar que os valores são </a:t>
            </a:r>
            <a:r>
              <a:rPr b="1" i="0" lang="en-US" sz="1300" u="none" cap="none" strike="noStrike">
                <a:solidFill>
                  <a:srgbClr val="000000"/>
                </a:solidFill>
                <a:latin typeface="Geist"/>
                <a:ea typeface="Geist"/>
                <a:cs typeface="Geist"/>
                <a:sym typeface="Geist"/>
              </a:rPr>
              <a:t>sob consulta</a:t>
            </a:r>
            <a:r>
              <a:rPr b="0" i="0" lang="en-US" sz="1300" u="none" cap="none" strike="noStrike">
                <a:solidFill>
                  <a:srgbClr val="3A2118"/>
                </a:solidFill>
                <a:latin typeface="Geist"/>
                <a:ea typeface="Geist"/>
                <a:cs typeface="Geist"/>
                <a:sym typeface="Geist"/>
              </a:rPr>
              <a:t>, pois cada evento é personalizado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8"/>
          <p:cNvSpPr/>
          <p:nvPr/>
        </p:nvSpPr>
        <p:spPr>
          <a:xfrm>
            <a:off x="609600" y="2437730"/>
            <a:ext cx="733425" cy="733425"/>
          </a:xfrm>
          <a:prstGeom prst="ellipse">
            <a:avLst/>
          </a:prstGeom>
          <a:solidFill>
            <a:srgbClr val="F4A26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" name="Google Shape;86;p8"/>
          <p:cNvSpPr/>
          <p:nvPr/>
        </p:nvSpPr>
        <p:spPr>
          <a:xfrm>
            <a:off x="742801" y="2594893"/>
            <a:ext cx="924223" cy="41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Clr>
                <a:srgbClr val="3A2A20"/>
              </a:buClr>
              <a:buSzPts val="3200"/>
              <a:buFont typeface="Ovo"/>
              <a:buNone/>
            </a:pPr>
            <a:r>
              <a:rPr b="0" i="0" lang="en-US" sz="3200" u="none" cap="none" strike="noStrike">
                <a:solidFill>
                  <a:srgbClr val="3A2A20"/>
                </a:solidFill>
                <a:latin typeface="Ovo"/>
                <a:ea typeface="Ovo"/>
                <a:cs typeface="Ovo"/>
                <a:sym typeface="Ovo"/>
              </a:rPr>
              <a:t>02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" name="Google Shape;87;p8"/>
          <p:cNvSpPr/>
          <p:nvPr/>
        </p:nvSpPr>
        <p:spPr>
          <a:xfrm>
            <a:off x="1419225" y="2761580"/>
            <a:ext cx="3838575" cy="453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buClr>
                <a:srgbClr val="3A2118"/>
              </a:buClr>
              <a:buSzPts val="1300"/>
              <a:buFont typeface="Geist"/>
              <a:buNone/>
            </a:pPr>
            <a:r>
              <a:rPr b="0" i="0" lang="en-US" sz="1300" u="none" cap="none" strike="noStrike">
                <a:solidFill>
                  <a:srgbClr val="3A2118"/>
                </a:solidFill>
                <a:latin typeface="Geist"/>
                <a:ea typeface="Geist"/>
                <a:cs typeface="Geist"/>
                <a:sym typeface="Geist"/>
              </a:rPr>
              <a:t>Mostrar o diferencial: </a:t>
            </a:r>
            <a:r>
              <a:rPr b="1" i="0" lang="en-US" sz="1300" u="none" cap="none" strike="noStrike">
                <a:solidFill>
                  <a:srgbClr val="000000"/>
                </a:solidFill>
                <a:latin typeface="Geist"/>
                <a:ea typeface="Geist"/>
                <a:cs typeface="Geist"/>
                <a:sym typeface="Geist"/>
              </a:rPr>
              <a:t>comida caseira, carinho no atendimento e atenção aos detalhes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" name="Google Shape;88;p8"/>
          <p:cNvSpPr/>
          <p:nvPr/>
        </p:nvSpPr>
        <p:spPr>
          <a:xfrm>
            <a:off x="609600" y="3412406"/>
            <a:ext cx="733425" cy="733425"/>
          </a:xfrm>
          <a:prstGeom prst="ellipse">
            <a:avLst/>
          </a:prstGeom>
          <a:solidFill>
            <a:srgbClr val="F4A26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" name="Google Shape;89;p8"/>
          <p:cNvSpPr/>
          <p:nvPr/>
        </p:nvSpPr>
        <p:spPr>
          <a:xfrm>
            <a:off x="741313" y="3569568"/>
            <a:ext cx="927125" cy="41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Clr>
                <a:srgbClr val="3A2A20"/>
              </a:buClr>
              <a:buSzPts val="3200"/>
              <a:buFont typeface="Ovo"/>
              <a:buNone/>
            </a:pPr>
            <a:r>
              <a:rPr b="0" i="0" lang="en-US" sz="3200" u="none" cap="none" strike="noStrike">
                <a:solidFill>
                  <a:srgbClr val="3A2A20"/>
                </a:solidFill>
                <a:latin typeface="Ovo"/>
                <a:ea typeface="Ovo"/>
                <a:cs typeface="Ovo"/>
                <a:sym typeface="Ovo"/>
              </a:rPr>
              <a:t>03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" name="Google Shape;90;p8"/>
          <p:cNvSpPr/>
          <p:nvPr/>
        </p:nvSpPr>
        <p:spPr>
          <a:xfrm>
            <a:off x="1419225" y="3736256"/>
            <a:ext cx="3838575" cy="453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buClr>
                <a:srgbClr val="3A2118"/>
              </a:buClr>
              <a:buSzPts val="1300"/>
              <a:buFont typeface="Geist"/>
              <a:buNone/>
            </a:pPr>
            <a:r>
              <a:rPr b="0" i="0" lang="en-US" sz="1300" u="none" cap="none" strike="noStrike">
                <a:solidFill>
                  <a:srgbClr val="3A2118"/>
                </a:solidFill>
                <a:latin typeface="Geist"/>
                <a:ea typeface="Geist"/>
                <a:cs typeface="Geist"/>
                <a:sym typeface="Geist"/>
              </a:rPr>
              <a:t>Publicar fotos de pedidos e bastidores para gerar confiança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91" name="Google Shape;91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486400" y="0"/>
            <a:ext cx="36576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p8"/>
          <p:cNvSpPr/>
          <p:nvPr/>
        </p:nvSpPr>
        <p:spPr>
          <a:xfrm>
            <a:off x="609600" y="2394868"/>
            <a:ext cx="4648200" cy="9525"/>
          </a:xfrm>
          <a:prstGeom prst="rect">
            <a:avLst/>
          </a:prstGeom>
          <a:solidFill>
            <a:srgbClr val="D9BFA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" name="Google Shape;93;p8"/>
          <p:cNvSpPr/>
          <p:nvPr/>
        </p:nvSpPr>
        <p:spPr>
          <a:xfrm>
            <a:off x="609600" y="3312393"/>
            <a:ext cx="4648200" cy="9525"/>
          </a:xfrm>
          <a:prstGeom prst="rect">
            <a:avLst/>
          </a:prstGeom>
          <a:solidFill>
            <a:srgbClr val="D9BFA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9"/>
          <p:cNvSpPr/>
          <p:nvPr/>
        </p:nvSpPr>
        <p:spPr>
          <a:xfrm>
            <a:off x="609600" y="628650"/>
            <a:ext cx="5429250" cy="3886200"/>
          </a:xfrm>
          <a:prstGeom prst="rect">
            <a:avLst/>
          </a:prstGeom>
          <a:solidFill>
            <a:srgbClr val="F7E6D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" name="Google Shape;100;p9"/>
          <p:cNvSpPr/>
          <p:nvPr/>
        </p:nvSpPr>
        <p:spPr>
          <a:xfrm>
            <a:off x="971550" y="1439987"/>
            <a:ext cx="4705350" cy="8400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88000"/>
              </a:lnSpc>
              <a:spcBef>
                <a:spcPts val="0"/>
              </a:spcBef>
              <a:spcAft>
                <a:spcPts val="0"/>
              </a:spcAft>
              <a:buClr>
                <a:srgbClr val="3A2118"/>
              </a:buClr>
              <a:buSzPts val="2050"/>
              <a:buFont typeface="Ovo"/>
              <a:buNone/>
            </a:pPr>
            <a:r>
              <a:rPr b="0" i="0" lang="en-US" sz="2050" u="none" cap="none" strike="noStrike">
                <a:solidFill>
                  <a:srgbClr val="3A2118"/>
                </a:solidFill>
                <a:latin typeface="Ovo"/>
                <a:ea typeface="Ovo"/>
                <a:cs typeface="Ovo"/>
                <a:sym typeface="Ovo"/>
              </a:rPr>
              <a:t>Buffet Dona Lurdes: </a:t>
            </a:r>
            <a:r>
              <a:rPr b="1" i="0" lang="en-US" sz="2050" u="none" cap="none" strike="noStrike">
                <a:solidFill>
                  <a:srgbClr val="B52A24"/>
                </a:solidFill>
                <a:latin typeface="Ovo"/>
                <a:ea typeface="Ovo"/>
                <a:cs typeface="Ovo"/>
                <a:sym typeface="Ovo"/>
              </a:rPr>
              <a:t>sabor caseiro</a:t>
            </a:r>
            <a:r>
              <a:rPr b="0" i="0" lang="en-US" sz="2050" u="none" cap="none" strike="noStrike">
                <a:solidFill>
                  <a:srgbClr val="3A2118"/>
                </a:solidFill>
                <a:latin typeface="Ovo"/>
                <a:ea typeface="Ovo"/>
                <a:cs typeface="Ovo"/>
                <a:sym typeface="Ovo"/>
              </a:rPr>
              <a:t>, cuidado em cada detalhe e festas com mais carinho.</a:t>
            </a:r>
            <a:endParaRPr b="0" i="0" sz="2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" name="Google Shape;101;p9"/>
          <p:cNvSpPr/>
          <p:nvPr/>
        </p:nvSpPr>
        <p:spPr>
          <a:xfrm>
            <a:off x="971550" y="2491978"/>
            <a:ext cx="4705350" cy="453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buClr>
                <a:srgbClr val="3A2118"/>
              </a:buClr>
              <a:buSzPts val="1300"/>
              <a:buFont typeface="Geist"/>
              <a:buNone/>
            </a:pPr>
            <a:r>
              <a:rPr b="0" i="0" lang="en-US" sz="1300" u="none" cap="none" strike="noStrike">
                <a:solidFill>
                  <a:srgbClr val="3A2118"/>
                </a:solidFill>
                <a:latin typeface="Geist"/>
                <a:ea typeface="Geist"/>
                <a:cs typeface="Geist"/>
                <a:sym typeface="Geist"/>
              </a:rPr>
              <a:t>O buffet atende festas, aniversários, encontros familiares, confraternizações e eventos em geral.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9"/>
          <p:cNvSpPr/>
          <p:nvPr/>
        </p:nvSpPr>
        <p:spPr>
          <a:xfrm>
            <a:off x="1214438" y="3192959"/>
            <a:ext cx="4462463" cy="453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buClr>
                <a:srgbClr val="3A2118"/>
              </a:buClr>
              <a:buSzPts val="1300"/>
              <a:buFont typeface="Geist"/>
              <a:buNone/>
            </a:pPr>
            <a:r>
              <a:rPr b="0" i="0" lang="en-US" sz="1300" u="none" cap="none" strike="noStrike">
                <a:solidFill>
                  <a:srgbClr val="3A2118"/>
                </a:solidFill>
                <a:latin typeface="Geist"/>
                <a:ea typeface="Geist"/>
                <a:cs typeface="Geist"/>
                <a:sym typeface="Geist"/>
              </a:rPr>
              <a:t>Mais clareza na apresentação. Mais confiança no buffet. Mais chances de celebrar juntos.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103;p9"/>
          <p:cNvSpPr/>
          <p:nvPr/>
        </p:nvSpPr>
        <p:spPr>
          <a:xfrm>
            <a:off x="971550" y="3135809"/>
            <a:ext cx="21431" cy="567630"/>
          </a:xfrm>
          <a:prstGeom prst="roundRect">
            <a:avLst>
              <a:gd fmla="val 50001" name="adj"/>
            </a:avLst>
          </a:prstGeom>
          <a:solidFill>
            <a:srgbClr val="B52A2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